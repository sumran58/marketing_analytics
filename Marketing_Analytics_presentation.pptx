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varScale="1">
        <p:scale>
          <a:sx n="82" d="100"/>
          <a:sy n="82" d="100"/>
        </p:scale>
        <p:origin x="9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2/7/2026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normAutofit/>
          </a:bodyPr>
          <a:lstStyle/>
          <a:p>
            <a:r>
              <a:rPr lang="en-US" dirty="0"/>
              <a:t>Marketing Analytics  </a:t>
            </a:r>
          </a:p>
          <a:p>
            <a:endParaRPr lang="en-US" dirty="0"/>
          </a:p>
          <a:p>
            <a:r>
              <a:rPr lang="en-US" dirty="0"/>
              <a:t>                                                                                               By:-Sumran Harchirkar</a:t>
            </a:r>
          </a:p>
          <a:p>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47500" lnSpcReduction="20000"/>
          </a:bodyPr>
          <a:lstStyle/>
          <a:p>
            <a:pPr>
              <a:lnSpc>
                <a:spcPct val="160000"/>
              </a:lnSpc>
            </a:pPr>
            <a:r>
              <a:rPr lang="en-US" sz="2000" b="1" dirty="0"/>
              <a:t>Decreased Conversion Rates: </a:t>
            </a:r>
            <a:r>
              <a:rPr lang="en-US" sz="2000" dirty="0"/>
              <a:t>The conversion rate demonstrated a strong rebound in December, reaching 10.2%, despite a notable dip to 5.0% in October.</a:t>
            </a:r>
          </a:p>
          <a:p>
            <a:pPr>
              <a:lnSpc>
                <a:spcPct val="160000"/>
              </a:lnSpc>
            </a:pPr>
            <a:r>
              <a:rPr lang="en-US" sz="2000" b="1" dirty="0"/>
              <a:t>Reduced Customer Engagement:</a:t>
            </a:r>
          </a:p>
          <a:p>
            <a:pPr lvl="1">
              <a:lnSpc>
                <a:spcPct val="160000"/>
              </a:lnSpc>
            </a:pPr>
            <a:r>
              <a:rPr lang="en-US" sz="2000" dirty="0"/>
              <a:t>There is a decline in overall social media engagement, with views dropping throughout the year.</a:t>
            </a:r>
          </a:p>
          <a:p>
            <a:pPr lvl="1">
              <a:lnSpc>
                <a:spcPct val="160000"/>
              </a:lnSpc>
            </a:pPr>
            <a:r>
              <a:rPr lang="en-US" sz="2000" dirty="0"/>
              <a:t>While clicks and likes are low compared to views, the click-through rate stands at 15.37%, meaning that engaged users are still interacting effectively.</a:t>
            </a:r>
          </a:p>
          <a:p>
            <a:pPr>
              <a:lnSpc>
                <a:spcPct val="160000"/>
              </a:lnSpc>
            </a:pPr>
            <a:r>
              <a:rPr lang="en-US" sz="2000" b="1" dirty="0"/>
              <a:t>Customer Feedback Analysis:</a:t>
            </a:r>
          </a:p>
          <a:p>
            <a:pPr lvl="1">
              <a:lnSpc>
                <a:spcPct val="160000"/>
              </a:lnSpc>
            </a:pPr>
            <a:r>
              <a:rPr lang="en-US" sz="2000" dirty="0"/>
              <a:t>Customer ratings have remained consistent, averaging around 3.7 throughout the year.</a:t>
            </a:r>
          </a:p>
          <a:p>
            <a:pPr lvl="1">
              <a:lnSpc>
                <a:spcPct val="160000"/>
              </a:lnSpc>
            </a:pPr>
            <a:r>
              <a:rPr lang="en-US" sz="2000" dirty="0"/>
              <a:t>Although stable, the average rating is below the target of 4.0, suggesting a need for focused improvements in customer satisfaction, for products below 3,5.</a:t>
            </a:r>
            <a:endParaRPr lang="nb-NO" sz="2000" dirty="0"/>
          </a:p>
        </p:txBody>
      </p:sp>
      <p:pic>
        <p:nvPicPr>
          <p:cNvPr id="9" name="Picture 8">
            <a:extLst>
              <a:ext uri="{FF2B5EF4-FFF2-40B4-BE49-F238E27FC236}">
                <a16:creationId xmlns:a16="http://schemas.microsoft.com/office/drawing/2014/main" id="{A4B5E61A-E8B6-7D8E-F737-6F1E0A482992}"/>
              </a:ext>
            </a:extLst>
          </p:cNvPr>
          <p:cNvPicPr>
            <a:picLocks noChangeAspect="1"/>
          </p:cNvPicPr>
          <p:nvPr/>
        </p:nvPicPr>
        <p:blipFill>
          <a:blip r:embed="rId2"/>
          <a:stretch>
            <a:fillRect/>
          </a:stretch>
        </p:blipFill>
        <p:spPr>
          <a:xfrm>
            <a:off x="4593519" y="1823141"/>
            <a:ext cx="7277236" cy="4351337"/>
          </a:xfrm>
          <a:prstGeom prst="rect">
            <a:avLst/>
          </a:prstGeom>
        </p:spPr>
      </p:pic>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487080" y="2021305"/>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7177696" y="5142641"/>
            <a:ext cx="1485041" cy="8593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0000" lnSpcReduction="20000"/>
          </a:bodyPr>
          <a:lstStyle/>
          <a:p>
            <a:pPr>
              <a:lnSpc>
                <a:spcPct val="170000"/>
              </a:lnSpc>
            </a:pPr>
            <a:r>
              <a:rPr lang="en-US" b="1" dirty="0"/>
              <a:t>General Conversion Trend:</a:t>
            </a:r>
          </a:p>
          <a:p>
            <a:pPr lvl="1">
              <a:lnSpc>
                <a:spcPct val="170000"/>
              </a:lnSpc>
            </a:pPr>
            <a:r>
              <a:rPr lang="en-US" dirty="0"/>
              <a:t>Throughout the year, conversion rates varied, with higher numbers of products converting successfully in months like February and July. This suggests that while some products had strong seasonal peaks, there is potential to improve conversions in lower-performing months through targeted interventions.</a:t>
            </a:r>
          </a:p>
          <a:p>
            <a:pPr>
              <a:lnSpc>
                <a:spcPct val="170000"/>
              </a:lnSpc>
            </a:pPr>
            <a:r>
              <a:rPr lang="en-US" b="1" dirty="0"/>
              <a:t>Lowest Conversion Month:</a:t>
            </a:r>
          </a:p>
          <a:p>
            <a:pPr lvl="1">
              <a:lnSpc>
                <a:spcPct val="170000"/>
              </a:lnSpc>
            </a:pPr>
            <a:r>
              <a:rPr lang="en-US" dirty="0"/>
              <a:t>May experienced the lowest overall conversion rate at 4.3%, with no products standing out significantly in terms of conversion. This indicates a potential need to revisit marketing strategies or promotions during this period to boost performance.</a:t>
            </a:r>
          </a:p>
          <a:p>
            <a:pPr>
              <a:lnSpc>
                <a:spcPct val="170000"/>
              </a:lnSpc>
            </a:pPr>
            <a:r>
              <a:rPr lang="en-US" b="1" dirty="0"/>
              <a:t>Highest Conversion Rates:</a:t>
            </a:r>
          </a:p>
          <a:p>
            <a:pPr lvl="1">
              <a:lnSpc>
                <a:spcPct val="170000"/>
              </a:lnSpc>
            </a:pPr>
            <a:r>
              <a:rPr lang="en-US" dirty="0"/>
              <a:t>January recorded the highest overall conversion rate at 18.5%, driven significantly by the Ski Boots with a remarkable 150% conversion. This indicates a strong start to the year, likely fueled by seasonal demand and effective marketing strategies.</a:t>
            </a:r>
          </a:p>
        </p:txBody>
      </p:sp>
      <p:pic>
        <p:nvPicPr>
          <p:cNvPr id="6" name="Picture 5">
            <a:extLst>
              <a:ext uri="{FF2B5EF4-FFF2-40B4-BE49-F238E27FC236}">
                <a16:creationId xmlns:a16="http://schemas.microsoft.com/office/drawing/2014/main" id="{A50E1FC3-538B-418A-C72B-4CCF4A773035}"/>
              </a:ext>
            </a:extLst>
          </p:cNvPr>
          <p:cNvPicPr>
            <a:picLocks noChangeAspect="1"/>
          </p:cNvPicPr>
          <p:nvPr/>
        </p:nvPicPr>
        <p:blipFill rotWithShape="1">
          <a:blip r:embed="rId2"/>
          <a:srcRect r="8839" b="17075"/>
          <a:stretch/>
        </p:blipFill>
        <p:spPr>
          <a:xfrm>
            <a:off x="6172201" y="2455959"/>
            <a:ext cx="5696559" cy="3154193"/>
          </a:xfrm>
          <a:prstGeom prst="rect">
            <a:avLst/>
          </a:prstGeom>
        </p:spPr>
      </p:pic>
      <p:sp>
        <p:nvSpPr>
          <p:cNvPr id="7" name="Rectangle 6">
            <a:extLst>
              <a:ext uri="{FF2B5EF4-FFF2-40B4-BE49-F238E27FC236}">
                <a16:creationId xmlns:a16="http://schemas.microsoft.com/office/drawing/2014/main" id="{9AE336E2-BFE9-301A-AFA2-2180EEC07102}"/>
              </a:ext>
            </a:extLst>
          </p:cNvPr>
          <p:cNvSpPr/>
          <p:nvPr/>
        </p:nvSpPr>
        <p:spPr>
          <a:xfrm>
            <a:off x="8413664" y="2455958"/>
            <a:ext cx="398762" cy="32160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ctangle 7">
            <a:extLst>
              <a:ext uri="{FF2B5EF4-FFF2-40B4-BE49-F238E27FC236}">
                <a16:creationId xmlns:a16="http://schemas.microsoft.com/office/drawing/2014/main" id="{2F76FB0A-6CB5-47EB-50C2-6A2B95E1B209}"/>
              </a:ext>
            </a:extLst>
          </p:cNvPr>
          <p:cNvSpPr/>
          <p:nvPr/>
        </p:nvSpPr>
        <p:spPr>
          <a:xfrm>
            <a:off x="6919820" y="2455958"/>
            <a:ext cx="537412" cy="3216071"/>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a:lnSpc>
                <a:spcPct val="170000"/>
              </a:lnSpc>
            </a:pPr>
            <a:r>
              <a:rPr lang="en-US" b="1" dirty="0"/>
              <a:t>Declining Views:</a:t>
            </a:r>
          </a:p>
          <a:p>
            <a:pPr lvl="1">
              <a:lnSpc>
                <a:spcPct val="170000"/>
              </a:lnSpc>
            </a:pPr>
            <a:r>
              <a:rPr lang="en-US" dirty="0"/>
              <a:t>Views peaked in February and July but declined from August and on, indicating reduced audience engagement in the later half of the year.</a:t>
            </a:r>
          </a:p>
          <a:p>
            <a:pPr>
              <a:lnSpc>
                <a:spcPct val="170000"/>
              </a:lnSpc>
            </a:pPr>
            <a:r>
              <a:rPr lang="en-US" b="1" dirty="0"/>
              <a:t>Low Interaction Rates:</a:t>
            </a:r>
          </a:p>
          <a:p>
            <a:pPr lvl="1">
              <a:lnSpc>
                <a:spcPct val="170000"/>
              </a:lnSpc>
            </a:pPr>
            <a:r>
              <a:rPr lang="en-US" dirty="0"/>
              <a:t>Clicks and likes remained consistently low compared to views, suggesting the need for more engaging content or stronger calls to action.</a:t>
            </a:r>
          </a:p>
          <a:p>
            <a:pPr>
              <a:lnSpc>
                <a:spcPct val="170000"/>
              </a:lnSpc>
            </a:pPr>
            <a:r>
              <a:rPr lang="en-US" b="1" dirty="0"/>
              <a:t>Content Type Performance:</a:t>
            </a:r>
          </a:p>
          <a:p>
            <a:pPr lvl="1">
              <a:lnSpc>
                <a:spcPct val="170000"/>
              </a:lnSpc>
            </a:pPr>
            <a:r>
              <a:rPr lang="en-US" dirty="0"/>
              <a:t>Blog content drove the most views, especially in April and July, while social media and video content maintained steady but slightly lower engagement.</a:t>
            </a:r>
            <a:endParaRPr lang="nb-NO" dirty="0"/>
          </a:p>
        </p:txBody>
      </p:sp>
      <p:pic>
        <p:nvPicPr>
          <p:cNvPr id="6" name="Picture 5">
            <a:extLst>
              <a:ext uri="{FF2B5EF4-FFF2-40B4-BE49-F238E27FC236}">
                <a16:creationId xmlns:a16="http://schemas.microsoft.com/office/drawing/2014/main" id="{AA51A6C3-8D7F-42D5-A580-31B5CCF978A2}"/>
              </a:ext>
            </a:extLst>
          </p:cNvPr>
          <p:cNvPicPr>
            <a:picLocks noChangeAspect="1"/>
          </p:cNvPicPr>
          <p:nvPr/>
        </p:nvPicPr>
        <p:blipFill>
          <a:blip r:embed="rId2"/>
          <a:stretch>
            <a:fillRect/>
          </a:stretch>
        </p:blipFill>
        <p:spPr>
          <a:xfrm>
            <a:off x="6771868" y="1690688"/>
            <a:ext cx="3685539" cy="2213660"/>
          </a:xfrm>
          <a:prstGeom prst="rect">
            <a:avLst/>
          </a:prstGeom>
        </p:spPr>
      </p:pic>
      <p:pic>
        <p:nvPicPr>
          <p:cNvPr id="8" name="Picture 7">
            <a:extLst>
              <a:ext uri="{FF2B5EF4-FFF2-40B4-BE49-F238E27FC236}">
                <a16:creationId xmlns:a16="http://schemas.microsoft.com/office/drawing/2014/main" id="{E1183400-4357-3720-F656-7CDAD9955152}"/>
              </a:ext>
            </a:extLst>
          </p:cNvPr>
          <p:cNvPicPr>
            <a:picLocks noChangeAspect="1"/>
          </p:cNvPicPr>
          <p:nvPr/>
        </p:nvPicPr>
        <p:blipFill>
          <a:blip r:embed="rId3"/>
          <a:stretch>
            <a:fillRect/>
          </a:stretch>
        </p:blipFill>
        <p:spPr>
          <a:xfrm>
            <a:off x="6740384" y="4073521"/>
            <a:ext cx="3748506" cy="2312780"/>
          </a:xfrm>
          <a:prstGeom prst="rect">
            <a:avLst/>
          </a:prstGeom>
        </p:spPr>
      </p:pic>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363887"/>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505075"/>
            <a:ext cx="5183188" cy="4211984"/>
          </a:xfrm>
        </p:spPr>
        <p:txBody>
          <a:bodyPr>
            <a:noAutofit/>
          </a:bodyPr>
          <a:lstStyle/>
          <a:p>
            <a:pPr>
              <a:lnSpc>
                <a:spcPct val="120000"/>
              </a:lnSpc>
            </a:pPr>
            <a:r>
              <a:rPr lang="nb-NO" sz="900" b="1" dirty="0" err="1"/>
              <a:t>Increase</a:t>
            </a:r>
            <a:r>
              <a:rPr lang="nb-NO" sz="900" b="1" dirty="0"/>
              <a:t> Conversion Rates:</a:t>
            </a:r>
          </a:p>
          <a:p>
            <a:pPr lvl="1">
              <a:lnSpc>
                <a:spcPct val="120000"/>
              </a:lnSpc>
            </a:pPr>
            <a:r>
              <a:rPr lang="en-US" sz="900" u="sng" dirty="0"/>
              <a:t>Target High-Performing Product Categories</a:t>
            </a:r>
            <a:r>
              <a:rPr lang="en-US" sz="900" dirty="0"/>
              <a:t>: Focus marketing efforts on products with demonstrated high conversion rates, such as Kayaks, Ski Boots, and Baseball Gloves. Implement seasonal promotions or personalized campaigns during peak months (e.g., January and September) to capitalize on these trends.</a:t>
            </a:r>
          </a:p>
          <a:p>
            <a:pPr lvl="1">
              <a:lnSpc>
                <a:spcPct val="120000"/>
              </a:lnSpc>
            </a:pP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pPr lvl="1">
              <a:lnSpc>
                <a:spcPct val="120000"/>
              </a:lnSpc>
            </a:pPr>
            <a:r>
              <a:rPr lang="en-US" sz="900" u="sng" dirty="0"/>
              <a:t>Revitalize Content Strategy</a:t>
            </a:r>
            <a:r>
              <a:rPr lang="en-US" sz="900" dirty="0"/>
              <a:t>: 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20000"/>
              </a:lnSpc>
            </a:pPr>
            <a:r>
              <a:rPr lang="nb-NO" sz="900" b="1" dirty="0" err="1"/>
              <a:t>Improve</a:t>
            </a:r>
            <a:r>
              <a:rPr lang="nb-NO" sz="900" b="1" dirty="0"/>
              <a:t> </a:t>
            </a:r>
            <a:r>
              <a:rPr lang="nb-NO" sz="900" b="1" dirty="0" err="1"/>
              <a:t>Customer</a:t>
            </a:r>
            <a:r>
              <a:rPr lang="nb-NO" sz="900" b="1" dirty="0"/>
              <a:t> Feedback Scores:</a:t>
            </a:r>
          </a:p>
          <a:p>
            <a:pPr lvl="1">
              <a:lnSpc>
                <a:spcPct val="120000"/>
              </a:lnSpc>
            </a:pPr>
            <a:r>
              <a:rPr lang="en-US" sz="900" u="sng" dirty="0"/>
              <a:t>Address Mixed and Negative Feedback: </a:t>
            </a:r>
            <a:r>
              <a:rPr lang="en-US" sz="9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9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108</TotalTime>
  <Words>790</Words>
  <Application>Microsoft Office PowerPoint</Application>
  <PresentationFormat>Widescreen</PresentationFormat>
  <Paragraphs>53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Goals &amp;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sumran harchirkar</cp:lastModifiedBy>
  <cp:revision>2</cp:revision>
  <dcterms:created xsi:type="dcterms:W3CDTF">2024-09-03T15:16:05Z</dcterms:created>
  <dcterms:modified xsi:type="dcterms:W3CDTF">2026-02-07T07:43:08Z</dcterms:modified>
</cp:coreProperties>
</file>